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48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560320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1F2B"/>
                </a:solidFill>
              </a:rPr>
              <a:t>AFRICA INNOVATION AWARDS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ResistIA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L'intelligence artificielle au service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lutte contre la résistance aux antimicrobiens en Afrique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1148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EF0"/>
                </a:solidFill>
              </a:rPr>
              <a:t>🌍  Togo — Afrique de l'Ouest   |   Global Biotek   |   TEKO Koffi Ephrem Diano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05072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05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🔗  resistia.streamlit.app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100584" cy="100584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" y="4754880"/>
            <a:ext cx="100584" cy="100584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82496" y="4754880"/>
            <a:ext cx="100584" cy="100584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95144" y="4754880"/>
            <a:ext cx="100584" cy="100584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07792" y="4754880"/>
            <a:ext cx="100584" cy="100584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4754880"/>
            <a:ext cx="100584" cy="100584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33088" y="4754880"/>
            <a:ext cx="100584" cy="100584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45736" y="4754880"/>
            <a:ext cx="100584" cy="100584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58384" y="4754880"/>
            <a:ext cx="100584" cy="100584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71032" y="4754880"/>
            <a:ext cx="100584" cy="100584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4754880"/>
            <a:ext cx="100584" cy="100584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4754880"/>
            <a:ext cx="100584" cy="100584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08976" y="4754880"/>
            <a:ext cx="100584" cy="100584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21624" y="4754880"/>
            <a:ext cx="100584" cy="100584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F2B"/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LE PROBLÈME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965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743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700 000</a:t>
            </a:r>
            <a:endParaRPr lang="en-US" sz="3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FCF8"/>
                </a:solidFill>
              </a:rPr>
              <a:t>décès/an</a:t>
            </a:r>
            <a:endParaRPr lang="en-US" sz="36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DDFCF8"/>
                </a:solidFill>
              </a:rPr>
              <a:t>dus à la RAM dans le monde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46120" y="960120"/>
            <a:ext cx="2743200" cy="1965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960120"/>
            <a:ext cx="2743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10 millions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FCF8"/>
                </a:solidFill>
              </a:rPr>
              <a:t>morts/an d'ici 2050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DDFCF8"/>
                </a:solidFill>
              </a:rPr>
              <a:t>projection OMS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17920" y="960120"/>
            <a:ext cx="2743200" cy="1965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960120"/>
            <a:ext cx="2743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Afrique de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l'Ouest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DFCF8"/>
                </a:solidFill>
              </a:rPr>
              <a:t>= épicentre à risque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DDFCF8"/>
                </a:solidFill>
              </a:rPr>
              <a:t>données locales absentes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74320" y="31546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24612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❌  Absence de données locales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675888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6570"/>
                </a:solidFill>
              </a:rPr>
              <a:t>Les prescriptions reposent sur des référentiels occidentaux inadaptés aux profils africains.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31546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24612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🔬  Fracture diagnostique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675888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6570"/>
                </a:solidFill>
              </a:rPr>
              <a:t>Peu d'établissements ont accès à des antibiogrammes fiables et à des outils d'aide à la décision.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324612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🗂️  Information cloisonnée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675888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6570"/>
                </a:solidFill>
              </a:rPr>
              <a:t>Les données RAM existent mais restent dispersées, non exploitées pour la santé publique.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 SOLUTION — ResistIA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</a:rPr>
              <a:t>Plateforme IA full-stack qui analyse les antibiogrammes et génère des recommandations thérapeutiques adaptées au contexte africain.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64208"/>
            <a:ext cx="2743200" cy="1444752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64208"/>
            <a:ext cx="54864" cy="14447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7739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</a:rPr>
              <a:t>🧬  9 bactéries ESKAPE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8912" y="2194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0"/>
                </a:solidFill>
              </a:rPr>
              <a:t>Staphylococcus, Klebsiella, Acinetobacter, Pseudomonas, Enterococcus…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1664208"/>
            <a:ext cx="2743200" cy="1444752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664208"/>
            <a:ext cx="54864" cy="14447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739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</a:rPr>
              <a:t>💊  23 antibiotiques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0"/>
                </a:solidFill>
              </a:rPr>
              <a:t>Couverture complète des familles thérapeutiques clés utilisées en Afrique de l'Ouest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664208"/>
            <a:ext cx="2743200" cy="1444752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664208"/>
            <a:ext cx="54864" cy="14447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7739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</a:rPr>
              <a:t>🤖  IA Gradient Boosting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27648" y="2194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0"/>
                </a:solidFill>
              </a:rPr>
              <a:t>Entraîné sur 64 000 antibiogrammes · AUC = 0.775 · F1 = 0.68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264408"/>
            <a:ext cx="2743200" cy="1444752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64408"/>
            <a:ext cx="54864" cy="14447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3741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</a:rPr>
              <a:t>🗺️  8 pays ECOWAS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8912" y="3794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0"/>
                </a:solidFill>
              </a:rPr>
              <a:t>Standards CLSI (anglophones) et EUCAST (francophones) appliqués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3264408"/>
            <a:ext cx="2743200" cy="1444752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3264408"/>
            <a:ext cx="54864" cy="14447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3741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</a:rPr>
              <a:t>⚡  3 zones de décision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83280" y="3794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0"/>
                </a:solidFill>
              </a:rPr>
              <a:t>Recommandé · Alternatif · À éviter — résultats en temps réel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3264408"/>
            <a:ext cx="2743200" cy="1444752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3264408"/>
            <a:ext cx="54864" cy="14447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3741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</a:rPr>
              <a:t>🌐  Déployé en production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27648" y="3794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EF0"/>
                </a:solidFill>
              </a:rPr>
              <a:t>resistia.streamlit.app — accessible sans installation requise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F2B"/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TRACTION &amp; RÉSULTATS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64 000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EF0"/>
                </a:solidFill>
              </a:rPr>
              <a:t>Antibiogrammes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EF0"/>
                </a:solidFill>
              </a:rPr>
              <a:t>dans le dataset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6596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058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AUC 0.775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450592" y="182880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EF0"/>
                </a:solidFill>
              </a:rPr>
              <a:t>Performance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EF0"/>
                </a:solidFill>
              </a:rPr>
              <a:t>du modèle 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6596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0058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8 pays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26864" y="182880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EF0"/>
                </a:solidFill>
              </a:rPr>
              <a:t>Couverts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EF0"/>
                </a:solidFill>
              </a:rPr>
              <a:t>(ECOWAS)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6596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00584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v2.0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03136" y="182880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EF0"/>
                </a:solidFill>
              </a:rPr>
              <a:t>En développement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EF0"/>
                </a:solidFill>
              </a:rPr>
              <a:t>actif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606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JALONS CLÉS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08152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" y="3200400"/>
            <a:ext cx="27432" cy="256032"/>
          </a:xfrm>
          <a:prstGeom prst="rect">
            <a:avLst/>
          </a:prstGeom>
          <a:solidFill>
            <a:srgbClr val="E2EEF0"/>
          </a:solidFill>
          <a:ln w="12700">
            <a:solidFill>
              <a:srgbClr val="E2E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9923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Début Mar 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299923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6570"/>
                </a:solidFill>
              </a:rPr>
              <a:t>Lancement du projet ResistIA chez Global Biotek, Lomé, Togo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419856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" y="3538728"/>
            <a:ext cx="27432" cy="256032"/>
          </a:xfrm>
          <a:prstGeom prst="rect">
            <a:avLst/>
          </a:prstGeom>
          <a:solidFill>
            <a:srgbClr val="E2EEF0"/>
          </a:solidFill>
          <a:ln w="12700">
            <a:solidFill>
              <a:srgbClr val="E2E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375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Mar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65960" y="333756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6570"/>
                </a:solidFill>
              </a:rPr>
              <a:t>Constitution du dataset 64K antibiogrammes ECOWAS calibré (CLSI/EUCAST)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758184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" y="3877056"/>
            <a:ext cx="27432" cy="256032"/>
          </a:xfrm>
          <a:prstGeom prst="rect">
            <a:avLst/>
          </a:prstGeom>
          <a:solidFill>
            <a:srgbClr val="E2EEF0"/>
          </a:solidFill>
          <a:ln w="12700">
            <a:solidFill>
              <a:srgbClr val="E2E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7588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28090"/>
                </a:solidFill>
              </a:rPr>
              <a:t>Avr</a:t>
            </a:r>
            <a:r>
              <a:rPr lang="en-US" sz="1300" b="1" dirty="0">
                <a:solidFill>
                  <a:srgbClr val="028090"/>
                </a:solidFill>
              </a:rPr>
              <a:t> 2026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65960" y="3675888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6570"/>
                </a:solidFill>
              </a:rPr>
              <a:t>Déploiement de la plateforme v1 en production sur Streamlit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4096512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1421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Mi-</a:t>
            </a:r>
            <a:r>
              <a:rPr lang="en-US" sz="1300" b="1" dirty="0" err="1">
                <a:solidFill>
                  <a:srgbClr val="028090"/>
                </a:solidFill>
              </a:rPr>
              <a:t>Avr</a:t>
            </a:r>
            <a:r>
              <a:rPr lang="en-US" sz="1300" b="1" dirty="0">
                <a:solidFill>
                  <a:srgbClr val="028090"/>
                </a:solidFill>
              </a:rPr>
              <a:t> 2026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65960" y="4014216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6570"/>
                </a:solidFill>
              </a:rPr>
              <a:t>Lancement de la roadmap v2.0 (195 pays, HL7/FHIR, GNN)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41F2B"/>
                </a:solidFill>
              </a:rPr>
              <a:t>COMMENT ÇA MARCHE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352044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078992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078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41F2B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" y="206654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Import des données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633472"/>
            <a:ext cx="175564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0"/>
                </a:solidFill>
              </a:rPr>
              <a:t>Saisie ou import d'antibiogrammes — résultats S/I/R par antibiotique et bactérie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40280" y="2212848"/>
            <a:ext cx="2103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914400"/>
            <a:ext cx="1965960" cy="352044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26664" y="1078992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1078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41F2B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206654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633472"/>
            <a:ext cx="175564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0"/>
                </a:solidFill>
              </a:rPr>
              <a:t>Encodage, normalisation, calcul des indices de résistance par profil clinique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16552" y="2212848"/>
            <a:ext cx="2103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914400"/>
            <a:ext cx="1965960" cy="352044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02936" y="1078992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2936" y="1078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41F2B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36592" y="206654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Moteur 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36592" y="2633472"/>
            <a:ext cx="175564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0"/>
                </a:solidFill>
              </a:rPr>
              <a:t>Gradient Boosting analyse le profil et calcule les probabilités d'efficacité par antibiotique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92824" y="2212848"/>
            <a:ext cx="2103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914400"/>
            <a:ext cx="1965960" cy="352044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79208" y="1078992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9208" y="1078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41F2B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12864" y="2066544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Recommandation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12864" y="2633472"/>
            <a:ext cx="175564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EF0"/>
                </a:solidFill>
              </a:rPr>
              <a:t>Classification en 3 zones : ✅ Recommandé · ⚠️ Alternatif · ❌ À éviter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A896"/>
                </a:solidFill>
              </a:rPr>
              <a:t>Stack :  Python 3.11  ·  Scikit-learn  ·  Pandas / NumPy  ·  Streamlit  ·  CARD v4.0.1  ·  Dataset ECOWAS 64K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F2B"/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MARCHÉ &amp; IMPACT CIBLE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846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🏥  Cliniciens &amp; Prescripteurs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49047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6570"/>
                </a:solidFill>
              </a:rPr>
              <a:t>Médecins, pharmaciens, biologistes — aide à la décision thérapeutique en temps réel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4846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3172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🔬  Laboratoires &amp; Hôpitaux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7706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6570"/>
                </a:solidFill>
              </a:rPr>
              <a:t>Centralisation et exploitation des données d'antibiogrammes pour les protocoles internes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4846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2044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61188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🏛️  Ministères de la Santé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40507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6570"/>
                </a:solidFill>
              </a:rPr>
              <a:t>Surveillance épidémiologique nationale et régionale de la résistance bactérienne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960120"/>
            <a:ext cx="3474720" cy="2331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1051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🌍  Zone cible initiale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508760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EF0"/>
                </a:solidFill>
              </a:rPr>
              <a:t>8 pays ECOWAS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EF0"/>
                </a:solidFill>
              </a:rPr>
              <a:t>Togo · Sénégal · Côte d'Ivoire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EF0"/>
                </a:solidFill>
              </a:rPr>
              <a:t>Ghana · Nigeria · Bénin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EF0"/>
                </a:solidFill>
              </a:rPr>
              <a:t>Burkina Faso · Guinée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3383280"/>
            <a:ext cx="3474720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3474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1F2B"/>
                </a:solidFill>
              </a:rPr>
              <a:t>🚀  Vision v2.0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38862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41F2B"/>
                </a:solidFill>
              </a:rPr>
              <a:t>195 pays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41F2B"/>
                </a:solidFill>
              </a:rPr>
              <a:t>Infrastructure mondiale AMR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41F2B"/>
                </a:solidFill>
              </a:rPr>
              <a:t>Standard continental africain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6570"/>
                </a:solidFill>
              </a:rPr>
              <a:t>Marché mondial IA Santé → 187 Mds USD d'ici 2030 (Grand View Research)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ROADMAP — ResistIA v2.0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96112"/>
            <a:ext cx="157276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8961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1F2B"/>
                </a:solidFill>
              </a:rPr>
              <a:t>Phase 1 · T2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325880"/>
            <a:ext cx="1572768" cy="3246120"/>
          </a:xfrm>
          <a:prstGeom prst="rect">
            <a:avLst/>
          </a:prstGeom>
          <a:solidFill>
            <a:srgbClr val="0A304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Fondations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9385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Import PDF/OCR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26243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Interface multi-rôles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33101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Dashboard analytics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75104" y="896112"/>
            <a:ext cx="1572768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8961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1F2B"/>
                </a:solidFill>
              </a:rPr>
              <a:t>Phase 2 · T2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75104" y="1325880"/>
            <a:ext cx="1572768" cy="324612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41732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IA Avancée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66544" y="19385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Vision IA (Petri)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66544" y="26243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Prédiction ML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66544" y="33101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HL7/FHIR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896112"/>
            <a:ext cx="1572768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8961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1F2B"/>
                </a:solidFill>
              </a:rPr>
              <a:t>Phase 3 · T3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1325880"/>
            <a:ext cx="1572768" cy="324612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141732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Drug Discovery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19385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Repositionnement mol.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26243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Prédiction QSAR/GNN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33101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Design génératif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22976" y="896112"/>
            <a:ext cx="1572768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8961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1F2B"/>
                </a:solidFill>
              </a:rPr>
              <a:t>Phase 4 · T3 2026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22976" y="1325880"/>
            <a:ext cx="1572768" cy="324612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141732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Intelligence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14416" y="19385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Assistant clinique 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14416" y="26243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Antibiogramme prédict.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14416" y="33101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Surveillance épidémio.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96912" y="896112"/>
            <a:ext cx="1572768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96912" y="8961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1F2B"/>
                </a:solidFill>
              </a:rPr>
              <a:t>Phase 5 · T3 2026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96912" y="1325880"/>
            <a:ext cx="1572768" cy="324612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0064" y="141732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 Global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88352" y="19385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195 pays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88352" y="26243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Partenariats OMS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88352" y="33101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</a:rPr>
              <a:t>▸  </a:t>
            </a:r>
            <a:r>
              <a:rPr lang="en-US" sz="1000" dirty="0">
                <a:solidFill>
                  <a:srgbClr val="E2EEF0"/>
                </a:solidFill>
              </a:rPr>
              <a:t>Certification médicale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</a:rPr>
              <a:t>⭐  Présentation AIA Dakar — Mai 2026  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F2B"/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L'ÉQUIPE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143000"/>
            <a:ext cx="1645920" cy="1645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143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TKE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1F2B"/>
                </a:solidFill>
              </a:rPr>
              <a:t>TEKO Koffi Ephrem Diano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</a:rPr>
              <a:t>Fondateur &amp; Lead Developer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</a:rPr>
              <a:t>Bioinformaticien · Data Analyst · IA Santé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✔  </a:t>
            </a:r>
            <a:r>
              <a:rPr lang="en-US" sz="1000" dirty="0">
                <a:solidFill>
                  <a:srgbClr val="3A6570"/>
                </a:solidFill>
              </a:rPr>
              <a:t>Bioinformatique &amp; AMR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16966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✔  </a:t>
            </a:r>
            <a:r>
              <a:rPr lang="en-US" sz="1000" dirty="0">
                <a:solidFill>
                  <a:srgbClr val="3A6570"/>
                </a:solidFill>
              </a:rPr>
              <a:t>Machine Learning (Scikit-learn)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3342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✔  </a:t>
            </a:r>
            <a:r>
              <a:rPr lang="en-US" sz="1000" dirty="0">
                <a:solidFill>
                  <a:srgbClr val="3A6570"/>
                </a:solidFill>
              </a:rPr>
              <a:t>Python · Pandas · NumPy · Streamlit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49884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✔  </a:t>
            </a:r>
            <a:r>
              <a:rPr lang="en-US" sz="1000" dirty="0">
                <a:solidFill>
                  <a:srgbClr val="3A6570"/>
                </a:solidFill>
              </a:rPr>
              <a:t>Power BI · Data Visualization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✔  </a:t>
            </a:r>
            <a:r>
              <a:rPr lang="en-US" sz="1000" dirty="0">
                <a:solidFill>
                  <a:srgbClr val="3A6570"/>
                </a:solidFill>
              </a:rPr>
              <a:t>Sciences Biomédicales (double formation)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114800" cy="1719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🏢  Organisation d'accueil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48132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EF0"/>
                </a:solidFill>
              </a:rPr>
              <a:t>Global Biotek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EF0"/>
                </a:solidFill>
              </a:rPr>
              <a:t>Biotechnologie &amp; Analyse de données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EF0"/>
                </a:solidFill>
              </a:rPr>
              <a:t>Lomé, Togo — Afrique de l'Ouest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4114800" cy="2011680"/>
          </a:xfrm>
          <a:prstGeom prst="rect">
            <a:avLst/>
          </a:prstGeom>
          <a:solidFill>
            <a:srgbClr val="0A304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834640"/>
            <a:ext cx="4114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🎯  Prochaines étapes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364992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🏆  AIA Dakar — Mai 2026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🚀  VivaTech Paris — Juin 2026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🌍  Déploiement v2.0 · 195 pays · 2027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Rejoignez la révolution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contre la résistance aux antimicrobiens.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299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</a:rPr>
              <a:t>ResistIA — là où la donnée africaine sauve des vies.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468880" cy="86868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83464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🔗  resistia.streamlit.app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2834640"/>
            <a:ext cx="2468880" cy="86868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83464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💻  github.com/Ephrem09-TEKO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2834640"/>
            <a:ext cx="2468880" cy="868680"/>
          </a:xfrm>
          <a:prstGeom prst="rect">
            <a:avLst/>
          </a:prstGeom>
          <a:solidFill>
            <a:srgbClr val="0A304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83464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📍  Global Biotek · Lomé, Togo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6570"/>
                </a:solidFill>
              </a:rPr>
              <a:t>TEKO Koffi Ephrem Diano   ·   Africa Innovation Awards — Dakar, Mai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91440" cy="9144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4754880"/>
            <a:ext cx="91440" cy="91440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17904" y="4754880"/>
            <a:ext cx="91440" cy="91440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48256" y="4754880"/>
            <a:ext cx="91440" cy="9144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8608" y="4754880"/>
            <a:ext cx="91440" cy="91440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4754880"/>
            <a:ext cx="91440" cy="91440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9312" y="4754880"/>
            <a:ext cx="91440" cy="9144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9664" y="4754880"/>
            <a:ext cx="91440" cy="91440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0016" y="4754880"/>
            <a:ext cx="91440" cy="91440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4754880"/>
            <a:ext cx="91440" cy="9144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4754880"/>
            <a:ext cx="91440" cy="91440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4754880"/>
            <a:ext cx="91440" cy="91440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21424" y="4754880"/>
            <a:ext cx="91440" cy="9144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1776" y="4754880"/>
            <a:ext cx="91440" cy="91440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4754880"/>
            <a:ext cx="91440" cy="91440"/>
          </a:xfrm>
          <a:prstGeom prst="ellipse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4754880"/>
            <a:ext cx="91440" cy="9144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41F2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757</Words>
  <Application>Microsoft Office PowerPoint</Application>
  <PresentationFormat>Affichage à l'écran (16:9)</PresentationFormat>
  <Paragraphs>153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ResistIA — Africa Innovation Awards 2026</dc:title>
  <dc:subject>PptxGenJS Presentation</dc:subject>
  <dc:creator>Teko Koffi Ephrem Diano</dc:creator>
  <cp:lastModifiedBy>EPHREM TEKO</cp:lastModifiedBy>
  <cp:revision>2</cp:revision>
  <dcterms:created xsi:type="dcterms:W3CDTF">2026-04-23T22:16:08Z</dcterms:created>
  <dcterms:modified xsi:type="dcterms:W3CDTF">2026-04-24T02:22:13Z</dcterms:modified>
</cp:coreProperties>
</file>